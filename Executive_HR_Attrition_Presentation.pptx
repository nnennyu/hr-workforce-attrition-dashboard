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50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B442FF-F0E0-4F43-AAE4-EE1DEF4AD3A0}" v="99" dt="2026-06-28T06:30:23.6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776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nennaya Ihekwoaba" userId="09c9427f7bc7d59c" providerId="LiveId" clId="{69C1BD19-1D44-4A3F-A183-D0C385ECE59C}"/>
    <pc:docChg chg="undo custSel addSld delSld modSld">
      <pc:chgData name="Nnennaya Ihekwoaba" userId="09c9427f7bc7d59c" providerId="LiveId" clId="{69C1BD19-1D44-4A3F-A183-D0C385ECE59C}" dt="2026-06-28T06:30:23.622" v="307"/>
      <pc:docMkLst>
        <pc:docMk/>
      </pc:docMkLst>
      <pc:sldChg chg="addSp delSp modSp mod modMedia setBg delAnim">
        <pc:chgData name="Nnennaya Ihekwoaba" userId="09c9427f7bc7d59c" providerId="LiveId" clId="{69C1BD19-1D44-4A3F-A183-D0C385ECE59C}" dt="2026-06-27T10:20:08.464" v="110" actId="20577"/>
        <pc:sldMkLst>
          <pc:docMk/>
          <pc:sldMk cId="0" sldId="256"/>
        </pc:sldMkLst>
        <pc:spChg chg="mod">
          <ac:chgData name="Nnennaya Ihekwoaba" userId="09c9427f7bc7d59c" providerId="LiveId" clId="{69C1BD19-1D44-4A3F-A183-D0C385ECE59C}" dt="2026-06-27T09:50:58.914" v="4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Nnennaya Ihekwoaba" userId="09c9427f7bc7d59c" providerId="LiveId" clId="{69C1BD19-1D44-4A3F-A183-D0C385ECE59C}" dt="2026-06-27T10:20:08.464" v="110" actId="20577"/>
          <ac:spMkLst>
            <pc:docMk/>
            <pc:sldMk cId="0" sldId="256"/>
            <ac:spMk id="3" creationId="{00000000-0000-0000-0000-000000000000}"/>
          </ac:spMkLst>
        </pc:spChg>
        <pc:spChg chg="add">
          <ac:chgData name="Nnennaya Ihekwoaba" userId="09c9427f7bc7d59c" providerId="LiveId" clId="{69C1BD19-1D44-4A3F-A183-D0C385ECE59C}" dt="2026-06-27T09:50:58.914" v="4" actId="26606"/>
          <ac:spMkLst>
            <pc:docMk/>
            <pc:sldMk cId="0" sldId="256"/>
            <ac:spMk id="8" creationId="{FFD48BC7-DC40-47DE-87EE-9F4B6ECB9ABB}"/>
          </ac:spMkLst>
        </pc:spChg>
        <pc:spChg chg="add del">
          <ac:chgData name="Nnennaya Ihekwoaba" userId="09c9427f7bc7d59c" providerId="LiveId" clId="{69C1BD19-1D44-4A3F-A183-D0C385ECE59C}" dt="2026-06-27T09:50:58.869" v="3" actId="26606"/>
          <ac:spMkLst>
            <pc:docMk/>
            <pc:sldMk cId="0" sldId="256"/>
            <ac:spMk id="9" creationId="{C1DD1A8A-57D5-4A81-AD04-532B043C5611}"/>
          </ac:spMkLst>
        </pc:spChg>
        <pc:spChg chg="add">
          <ac:chgData name="Nnennaya Ihekwoaba" userId="09c9427f7bc7d59c" providerId="LiveId" clId="{69C1BD19-1D44-4A3F-A183-D0C385ECE59C}" dt="2026-06-27T09:50:58.914" v="4" actId="26606"/>
          <ac:spMkLst>
            <pc:docMk/>
            <pc:sldMk cId="0" sldId="256"/>
            <ac:spMk id="10" creationId="{E502BBC7-2C76-46F3-BC24-5985BC13DB88}"/>
          </ac:spMkLst>
        </pc:spChg>
        <pc:spChg chg="add del">
          <ac:chgData name="Nnennaya Ihekwoaba" userId="09c9427f7bc7d59c" providerId="LiveId" clId="{69C1BD19-1D44-4A3F-A183-D0C385ECE59C}" dt="2026-06-27T09:50:58.869" v="3" actId="26606"/>
          <ac:spMkLst>
            <pc:docMk/>
            <pc:sldMk cId="0" sldId="256"/>
            <ac:spMk id="11" creationId="{007891EC-4501-44ED-A8C8-B11B6DB767AB}"/>
          </ac:spMkLst>
        </pc:spChg>
        <pc:spChg chg="add">
          <ac:chgData name="Nnennaya Ihekwoaba" userId="09c9427f7bc7d59c" providerId="LiveId" clId="{69C1BD19-1D44-4A3F-A183-D0C385ECE59C}" dt="2026-06-27T09:50:58.914" v="4" actId="26606"/>
          <ac:spMkLst>
            <pc:docMk/>
            <pc:sldMk cId="0" sldId="256"/>
            <ac:spMk id="12" creationId="{C7F28D52-2A5F-4D23-81AE-7CB8B591C7AF}"/>
          </ac:spMkLst>
        </pc:spChg>
        <pc:spChg chg="add">
          <ac:chgData name="Nnennaya Ihekwoaba" userId="09c9427f7bc7d59c" providerId="LiveId" clId="{69C1BD19-1D44-4A3F-A183-D0C385ECE59C}" dt="2026-06-27T09:50:58.914" v="4" actId="26606"/>
          <ac:spMkLst>
            <pc:docMk/>
            <pc:sldMk cId="0" sldId="256"/>
            <ac:spMk id="14" creationId="{3629484E-3792-4B3D-89AD-7C8A1ED0E0D4}"/>
          </ac:spMkLst>
        </pc:spChg>
        <pc:picChg chg="add del mod">
          <ac:chgData name="Nnennaya Ihekwoaba" userId="09c9427f7bc7d59c" providerId="LiveId" clId="{69C1BD19-1D44-4A3F-A183-D0C385ECE59C}" dt="2026-06-27T09:50:58.869" v="3" actId="26606"/>
          <ac:picMkLst>
            <pc:docMk/>
            <pc:sldMk cId="0" sldId="256"/>
            <ac:picMk id="5" creationId="{650CFC71-D310-C0DA-8ACD-0B3F743E5808}"/>
          </ac:picMkLst>
        </pc:picChg>
      </pc:sldChg>
      <pc:sldChg chg="modSp mod">
        <pc:chgData name="Nnennaya Ihekwoaba" userId="09c9427f7bc7d59c" providerId="LiveId" clId="{69C1BD19-1D44-4A3F-A183-D0C385ECE59C}" dt="2026-06-27T09:53:07.961" v="18" actId="14100"/>
        <pc:sldMkLst>
          <pc:docMk/>
          <pc:sldMk cId="0" sldId="257"/>
        </pc:sldMkLst>
        <pc:spChg chg="mod">
          <ac:chgData name="Nnennaya Ihekwoaba" userId="09c9427f7bc7d59c" providerId="LiveId" clId="{69C1BD19-1D44-4A3F-A183-D0C385ECE59C}" dt="2026-06-27T09:52:53.575" v="16" actId="20577"/>
          <ac:spMkLst>
            <pc:docMk/>
            <pc:sldMk cId="0" sldId="257"/>
            <ac:spMk id="4" creationId="{00000000-0000-0000-0000-000000000000}"/>
          </ac:spMkLst>
        </pc:spChg>
        <pc:graphicFrameChg chg="mod">
          <ac:chgData name="Nnennaya Ihekwoaba" userId="09c9427f7bc7d59c" providerId="LiveId" clId="{69C1BD19-1D44-4A3F-A183-D0C385ECE59C}" dt="2026-06-27T09:53:07.961" v="18" actId="14100"/>
          <ac:graphicFrameMkLst>
            <pc:docMk/>
            <pc:sldMk cId="0" sldId="257"/>
            <ac:graphicFrameMk id="6" creationId="{C503521F-2950-84E3-8F16-220777FEF204}"/>
          </ac:graphicFrameMkLst>
        </pc:graphicFrameChg>
      </pc:sldChg>
      <pc:sldChg chg="modSp mod">
        <pc:chgData name="Nnennaya Ihekwoaba" userId="09c9427f7bc7d59c" providerId="LiveId" clId="{69C1BD19-1D44-4A3F-A183-D0C385ECE59C}" dt="2026-06-28T06:30:23.622" v="307"/>
        <pc:sldMkLst>
          <pc:docMk/>
          <pc:sldMk cId="0" sldId="258"/>
        </pc:sldMkLst>
        <pc:graphicFrameChg chg="mod">
          <ac:chgData name="Nnennaya Ihekwoaba" userId="09c9427f7bc7d59c" providerId="LiveId" clId="{69C1BD19-1D44-4A3F-A183-D0C385ECE59C}" dt="2026-06-28T06:30:23.622" v="307"/>
          <ac:graphicFrameMkLst>
            <pc:docMk/>
            <pc:sldMk cId="0" sldId="258"/>
            <ac:graphicFrameMk id="6" creationId="{6D2E3A6B-3460-7771-613B-149CB48CB7A2}"/>
          </ac:graphicFrameMkLst>
        </pc:graphicFrameChg>
      </pc:sldChg>
      <pc:sldChg chg="addSp delSp modSp mod">
        <pc:chgData name="Nnennaya Ihekwoaba" userId="09c9427f7bc7d59c" providerId="LiveId" clId="{69C1BD19-1D44-4A3F-A183-D0C385ECE59C}" dt="2026-06-28T05:09:51.881" v="305" actId="27918"/>
        <pc:sldMkLst>
          <pc:docMk/>
          <pc:sldMk cId="0" sldId="259"/>
        </pc:sldMkLst>
        <pc:spChg chg="mod">
          <ac:chgData name="Nnennaya Ihekwoaba" userId="09c9427f7bc7d59c" providerId="LiveId" clId="{69C1BD19-1D44-4A3F-A183-D0C385ECE59C}" dt="2026-06-27T10:27:00.069" v="149" actId="20577"/>
          <ac:spMkLst>
            <pc:docMk/>
            <pc:sldMk cId="0" sldId="259"/>
            <ac:spMk id="4" creationId="{00000000-0000-0000-0000-000000000000}"/>
          </ac:spMkLst>
        </pc:spChg>
        <pc:spChg chg="add del mod">
          <ac:chgData name="Nnennaya Ihekwoaba" userId="09c9427f7bc7d59c" providerId="LiveId" clId="{69C1BD19-1D44-4A3F-A183-D0C385ECE59C}" dt="2026-06-27T10:27:04.561" v="151" actId="478"/>
          <ac:spMkLst>
            <pc:docMk/>
            <pc:sldMk cId="0" sldId="259"/>
            <ac:spMk id="6" creationId="{95926C4D-10EA-E21E-238D-465B7A2EDCC8}"/>
          </ac:spMkLst>
        </pc:spChg>
      </pc:sldChg>
      <pc:sldChg chg="mod">
        <pc:chgData name="Nnennaya Ihekwoaba" userId="09c9427f7bc7d59c" providerId="LiveId" clId="{69C1BD19-1D44-4A3F-A183-D0C385ECE59C}" dt="2026-06-28T05:09:51.961" v="306" actId="27918"/>
        <pc:sldMkLst>
          <pc:docMk/>
          <pc:sldMk cId="0" sldId="260"/>
        </pc:sldMkLst>
      </pc:sldChg>
      <pc:sldChg chg="addSp delSp modSp mod modClrScheme chgLayout">
        <pc:chgData name="Nnennaya Ihekwoaba" userId="09c9427f7bc7d59c" providerId="LiveId" clId="{69C1BD19-1D44-4A3F-A183-D0C385ECE59C}" dt="2026-06-27T10:13:07.994" v="20" actId="700"/>
        <pc:sldMkLst>
          <pc:docMk/>
          <pc:sldMk cId="0" sldId="261"/>
        </pc:sldMkLst>
        <pc:spChg chg="mod ord">
          <ac:chgData name="Nnennaya Ihekwoaba" userId="09c9427f7bc7d59c" providerId="LiveId" clId="{69C1BD19-1D44-4A3F-A183-D0C385ECE59C}" dt="2026-06-27T10:13:07.994" v="20" actId="700"/>
          <ac:spMkLst>
            <pc:docMk/>
            <pc:sldMk cId="0" sldId="261"/>
            <ac:spMk id="2" creationId="{00000000-0000-0000-0000-000000000000}"/>
          </ac:spMkLst>
        </pc:spChg>
        <pc:spChg chg="add del mod ord">
          <ac:chgData name="Nnennaya Ihekwoaba" userId="09c9427f7bc7d59c" providerId="LiveId" clId="{69C1BD19-1D44-4A3F-A183-D0C385ECE59C}" dt="2026-06-27T10:13:07.994" v="20" actId="700"/>
          <ac:spMkLst>
            <pc:docMk/>
            <pc:sldMk cId="0" sldId="261"/>
            <ac:spMk id="9" creationId="{B97D18DA-C3FF-8FCF-4487-CC1C07123FFA}"/>
          </ac:spMkLst>
        </pc:spChg>
      </pc:sldChg>
      <pc:sldChg chg="modSp new del mod">
        <pc:chgData name="Nnennaya Ihekwoaba" userId="09c9427f7bc7d59c" providerId="LiveId" clId="{69C1BD19-1D44-4A3F-A183-D0C385ECE59C}" dt="2026-06-27T10:14:50.574" v="42" actId="47"/>
        <pc:sldMkLst>
          <pc:docMk/>
          <pc:sldMk cId="2280316582" sldId="262"/>
        </pc:sldMkLst>
        <pc:spChg chg="mod">
          <ac:chgData name="Nnennaya Ihekwoaba" userId="09c9427f7bc7d59c" providerId="LiveId" clId="{69C1BD19-1D44-4A3F-A183-D0C385ECE59C}" dt="2026-06-27T10:14:12.805" v="40" actId="20577"/>
          <ac:spMkLst>
            <pc:docMk/>
            <pc:sldMk cId="2280316582" sldId="262"/>
            <ac:spMk id="2" creationId="{81DCF115-342C-E9CD-7858-DFC9795A84DD}"/>
          </ac:spMkLst>
        </pc:spChg>
      </pc:sldChg>
      <pc:sldChg chg="modSp new mod">
        <pc:chgData name="Nnennaya Ihekwoaba" userId="09c9427f7bc7d59c" providerId="LiveId" clId="{69C1BD19-1D44-4A3F-A183-D0C385ECE59C}" dt="2026-06-27T11:20:30.844" v="185" actId="20577"/>
        <pc:sldMkLst>
          <pc:docMk/>
          <pc:sldMk cId="2834067748" sldId="263"/>
        </pc:sldMkLst>
        <pc:spChg chg="mod">
          <ac:chgData name="Nnennaya Ihekwoaba" userId="09c9427f7bc7d59c" providerId="LiveId" clId="{69C1BD19-1D44-4A3F-A183-D0C385ECE59C}" dt="2026-06-27T10:15:09.124" v="67" actId="20577"/>
          <ac:spMkLst>
            <pc:docMk/>
            <pc:sldMk cId="2834067748" sldId="263"/>
            <ac:spMk id="2" creationId="{267FA278-86C9-771B-3174-2DA16E9E9DD9}"/>
          </ac:spMkLst>
        </pc:spChg>
        <pc:spChg chg="mod">
          <ac:chgData name="Nnennaya Ihekwoaba" userId="09c9427f7bc7d59c" providerId="LiveId" clId="{69C1BD19-1D44-4A3F-A183-D0C385ECE59C}" dt="2026-06-27T11:20:30.844" v="185" actId="20577"/>
          <ac:spMkLst>
            <pc:docMk/>
            <pc:sldMk cId="2834067748" sldId="263"/>
            <ac:spMk id="3" creationId="{91313A45-9251-3F81-BC10-8DE217A91FA1}"/>
          </ac:spMkLst>
        </pc:spChg>
      </pc:sldChg>
      <pc:sldChg chg="addSp delSp modSp new mod">
        <pc:chgData name="Nnennaya Ihekwoaba" userId="09c9427f7bc7d59c" providerId="LiveId" clId="{69C1BD19-1D44-4A3F-A183-D0C385ECE59C}" dt="2026-06-27T11:24:34.049" v="186" actId="14100"/>
        <pc:sldMkLst>
          <pc:docMk/>
          <pc:sldMk cId="2768827038" sldId="264"/>
        </pc:sldMkLst>
        <pc:spChg chg="mod">
          <ac:chgData name="Nnennaya Ihekwoaba" userId="09c9427f7bc7d59c" providerId="LiveId" clId="{69C1BD19-1D44-4A3F-A183-D0C385ECE59C}" dt="2026-06-27T10:41:23.874" v="154" actId="27636"/>
          <ac:spMkLst>
            <pc:docMk/>
            <pc:sldMk cId="2768827038" sldId="264"/>
            <ac:spMk id="2" creationId="{66007FEE-2DC4-B460-4DF8-6AD051BD7F68}"/>
          </ac:spMkLst>
        </pc:spChg>
        <pc:spChg chg="del">
          <ac:chgData name="Nnennaya Ihekwoaba" userId="09c9427f7bc7d59c" providerId="LiveId" clId="{69C1BD19-1D44-4A3F-A183-D0C385ECE59C}" dt="2026-06-27T10:41:33.942" v="155" actId="931"/>
          <ac:spMkLst>
            <pc:docMk/>
            <pc:sldMk cId="2768827038" sldId="264"/>
            <ac:spMk id="3" creationId="{CFB04ACE-E719-FC04-785D-2D37E91DA346}"/>
          </ac:spMkLst>
        </pc:spChg>
        <pc:spChg chg="add del mod">
          <ac:chgData name="Nnennaya Ihekwoaba" userId="09c9427f7bc7d59c" providerId="LiveId" clId="{69C1BD19-1D44-4A3F-A183-D0C385ECE59C}" dt="2026-06-27T10:42:49.270" v="158" actId="931"/>
          <ac:spMkLst>
            <pc:docMk/>
            <pc:sldMk cId="2768827038" sldId="264"/>
            <ac:spMk id="7" creationId="{F6A1DE84-98A5-D617-9014-4B45D40357E3}"/>
          </ac:spMkLst>
        </pc:spChg>
        <pc:spChg chg="add del mod">
          <ac:chgData name="Nnennaya Ihekwoaba" userId="09c9427f7bc7d59c" providerId="LiveId" clId="{69C1BD19-1D44-4A3F-A183-D0C385ECE59C}" dt="2026-06-27T10:45:35.192" v="166" actId="931"/>
          <ac:spMkLst>
            <pc:docMk/>
            <pc:sldMk cId="2768827038" sldId="264"/>
            <ac:spMk id="11" creationId="{653980BB-8399-F1F1-6C4E-E6DA54ABE9AE}"/>
          </ac:spMkLst>
        </pc:spChg>
        <pc:picChg chg="add del mod ord">
          <ac:chgData name="Nnennaya Ihekwoaba" userId="09c9427f7bc7d59c" providerId="LiveId" clId="{69C1BD19-1D44-4A3F-A183-D0C385ECE59C}" dt="2026-06-27T10:41:43.702" v="157" actId="478"/>
          <ac:picMkLst>
            <pc:docMk/>
            <pc:sldMk cId="2768827038" sldId="264"/>
            <ac:picMk id="5" creationId="{8D6C37D7-3CE2-6BF7-F59E-C3958CF39C5B}"/>
          </ac:picMkLst>
        </pc:picChg>
        <pc:picChg chg="add del mod ord">
          <ac:chgData name="Nnennaya Ihekwoaba" userId="09c9427f7bc7d59c" providerId="LiveId" clId="{69C1BD19-1D44-4A3F-A183-D0C385ECE59C}" dt="2026-06-27T10:44:01.229" v="165" actId="478"/>
          <ac:picMkLst>
            <pc:docMk/>
            <pc:sldMk cId="2768827038" sldId="264"/>
            <ac:picMk id="9" creationId="{4D6A8034-91A9-C56B-0F15-4B673ECE4D47}"/>
          </ac:picMkLst>
        </pc:picChg>
        <pc:picChg chg="add mod ord">
          <ac:chgData name="Nnennaya Ihekwoaba" userId="09c9427f7bc7d59c" providerId="LiveId" clId="{69C1BD19-1D44-4A3F-A183-D0C385ECE59C}" dt="2026-06-27T11:24:34.049" v="186" actId="14100"/>
          <ac:picMkLst>
            <pc:docMk/>
            <pc:sldMk cId="2768827038" sldId="264"/>
            <ac:picMk id="13" creationId="{F86E5377-29B6-633C-86FB-11D269F7F3EA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9C9427F7BC7D59C/Full%20Stack%20Data%20Science%20Practise/Projects/HR-Employee-Attri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9C9427F7BC7D59C/Full%20Stack%20Data%20Science%20Practise/Projects/HR-Employee-Attrit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9C9427F7BC7D59C/Full%20Stack%20Data%20Science%20Practise/Projects/HR-Employee-Attrition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9C9427F7BC7D59C/Full%20Stack%20Data%20Science%20Practise/Projects/HR-Employee-Attrition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explosion val="9"/>
          <c:dPt>
            <c:idx val="0"/>
            <c:bubble3D val="0"/>
            <c:explosion val="0"/>
            <c:spPr>
              <a:solidFill>
                <a:srgbClr val="02504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6DE-4D87-892A-299498E27754}"/>
              </c:ext>
            </c:extLst>
          </c:dPt>
          <c:dPt>
            <c:idx val="1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6DE-4D87-892A-299498E27754}"/>
              </c:ext>
            </c:extLst>
          </c:dPt>
          <c:dLbls>
            <c:dLbl>
              <c:idx val="0"/>
              <c:layout>
                <c:manualLayout>
                  <c:x val="7.2894477951089137E-2"/>
                  <c:y val="-4.8524632051553156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400" b="1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400" b="1" baseline="0"/>
                      <a:t>Retention</a:t>
                    </a:r>
                  </a:p>
                  <a:p>
                    <a:pPr>
                      <a:defRPr sz="1400" b="1"/>
                    </a:pPr>
                    <a:r>
                      <a:rPr lang="en-US" sz="1400" b="1" baseline="0"/>
                      <a:t> </a:t>
                    </a:r>
                    <a:fld id="{1AEAA6B7-56DA-4B2E-9DB9-0ACF76EBDE46}" type="PERCENTAGE">
                      <a:rPr lang="en-US" sz="1400" b="1" baseline="0"/>
                      <a:pPr>
                        <a:defRPr sz="1400" b="1"/>
                      </a:pPr>
                      <a:t>[PERCENTAGE]</a:t>
                    </a:fld>
                    <a:endParaRPr lang="en-US" sz="1400" b="1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1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404833770778651"/>
                      <c:h val="0.34715296004666085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96DE-4D87-892A-299498E27754}"/>
                </c:ext>
              </c:extLst>
            </c:dLbl>
            <c:dLbl>
              <c:idx val="1"/>
              <c:layout>
                <c:manualLayout>
                  <c:x val="-1.1357413439247984E-2"/>
                  <c:y val="7.6772061317390033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4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400" b="1" baseline="0"/>
                      <a:t>Attrition, </a:t>
                    </a:r>
                    <a:fld id="{11F8C864-0FF9-4D86-8ABF-D8F8F32283F9}" type="VALUE">
                      <a:rPr lang="en-US" sz="1400" b="1" baseline="0"/>
                      <a:pPr>
                        <a:defRPr sz="1400"/>
                      </a:pPr>
                      <a:t>[VALUE]</a:t>
                    </a:fld>
                    <a:endParaRPr lang="en-US" sz="1400" b="1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101377952755904"/>
                      <c:h val="0.19900481189851268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6DE-4D87-892A-299498E2775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val>
            <c:numRef>
              <c:f>'Pivots-workings'!$D$3:$D$4</c:f>
              <c:numCache>
                <c:formatCode>0%</c:formatCode>
                <c:ptCount val="2"/>
                <c:pt idx="0">
                  <c:v>0.83877551020408159</c:v>
                </c:pt>
                <c:pt idx="1">
                  <c:v>0.16122448979591836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6DE-4D87-892A-299498E277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[HR-Employee-Attrition.xlsx]Pivots-workings!PivotTable4</c:name>
    <c:fmtId val="34"/>
  </c:pivotSource>
  <c:chart>
    <c:autoTitleDeleted val="1"/>
    <c:pivotFmts>
      <c:pivotFmt>
        <c:idx val="0"/>
        <c:spPr>
          <a:solidFill>
            <a:srgbClr val="02504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02504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02504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6.3157970298685182E-2"/>
          <c:y val="5.8922579751170406E-2"/>
          <c:w val="0.90793593878001588"/>
          <c:h val="0.829216382271139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'Pivots-workings'!$B$11:$B$12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rgbClr val="025043"/>
            </a:solidFill>
            <a:ln>
              <a:noFill/>
            </a:ln>
            <a:effectLst/>
          </c:spPr>
          <c:invertIfNegative val="0"/>
          <c:cat>
            <c:strRef>
              <c:f>'Pivots-workings'!$A$13:$A$17</c:f>
              <c:strCache>
                <c:ptCount val="5"/>
                <c:pt idx="0">
                  <c:v>Under 20yrs</c:v>
                </c:pt>
                <c:pt idx="1">
                  <c:v>(21-30)yrs</c:v>
                </c:pt>
                <c:pt idx="2">
                  <c:v>(31-40)yrs</c:v>
                </c:pt>
                <c:pt idx="3">
                  <c:v>(41-50)yrs</c:v>
                </c:pt>
                <c:pt idx="4">
                  <c:v>(51-60)yrs</c:v>
                </c:pt>
              </c:strCache>
            </c:strRef>
          </c:cat>
          <c:val>
            <c:numRef>
              <c:f>'Pivots-workings'!$B$13:$B$17</c:f>
              <c:numCache>
                <c:formatCode>0%</c:formatCode>
                <c:ptCount val="5"/>
                <c:pt idx="0">
                  <c:v>6.7510548523206745E-2</c:v>
                </c:pt>
                <c:pt idx="1">
                  <c:v>0.35443037974683544</c:v>
                </c:pt>
                <c:pt idx="2">
                  <c:v>0.35864978902953587</c:v>
                </c:pt>
                <c:pt idx="3">
                  <c:v>0.14345991561181434</c:v>
                </c:pt>
                <c:pt idx="4">
                  <c:v>7.5949367088607597E-2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12-4EBC-861E-E44087F8DF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14073088"/>
        <c:axId val="1014064928"/>
      </c:barChart>
      <c:catAx>
        <c:axId val="1014073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4064928"/>
        <c:crosses val="autoZero"/>
        <c:auto val="1"/>
        <c:lblAlgn val="ctr"/>
        <c:lblOffset val="100"/>
        <c:noMultiLvlLbl val="0"/>
      </c:catAx>
      <c:valAx>
        <c:axId val="1014064928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4073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[HR-Employee-Attrition.xlsx]Pivots-workings!PivotTable2</c:name>
    <c:fmtId val="11"/>
  </c:pivotSource>
  <c:chart>
    <c:autoTitleDeleted val="1"/>
    <c:pivotFmts>
      <c:pivotFmt>
        <c:idx val="0"/>
        <c:spPr>
          <a:solidFill>
            <a:srgbClr val="03836E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03836E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03836E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0706496062992125"/>
          <c:y val="6.1689997083697871E-2"/>
          <c:w val="0.86237948381452323"/>
          <c:h val="0.7134645669291338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'Pivots-workings'!$G$13:$G$14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rgbClr val="03836E"/>
            </a:solidFill>
            <a:ln>
              <a:noFill/>
            </a:ln>
            <a:effectLst/>
          </c:spPr>
          <c:invertIfNegative val="0"/>
          <c:cat>
            <c:strRef>
              <c:f>'Pivots-workings'!$F$15:$F$17</c:f>
              <c:strCache>
                <c:ptCount val="3"/>
                <c:pt idx="0">
                  <c:v>Human Resources</c:v>
                </c:pt>
                <c:pt idx="1">
                  <c:v>Research &amp; Development</c:v>
                </c:pt>
                <c:pt idx="2">
                  <c:v>Sales</c:v>
                </c:pt>
              </c:strCache>
            </c:strRef>
          </c:cat>
          <c:val>
            <c:numRef>
              <c:f>'Pivots-workings'!$G$15:$G$17</c:f>
              <c:numCache>
                <c:formatCode>0%</c:formatCode>
                <c:ptCount val="3"/>
                <c:pt idx="0">
                  <c:v>5.0632911392405063E-2</c:v>
                </c:pt>
                <c:pt idx="1">
                  <c:v>0.56118143459915615</c:v>
                </c:pt>
                <c:pt idx="2">
                  <c:v>0.3881856540084388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58-442D-8A23-1DA872ECE2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32988160"/>
        <c:axId val="1832984800"/>
      </c:barChart>
      <c:catAx>
        <c:axId val="1832988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2984800"/>
        <c:crosses val="autoZero"/>
        <c:auto val="1"/>
        <c:lblAlgn val="ctr"/>
        <c:lblOffset val="100"/>
        <c:noMultiLvlLbl val="0"/>
      </c:catAx>
      <c:valAx>
        <c:axId val="1832984800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2988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[HR-Employee-Attrition.xlsx]Pivots-workings!PivotTable5</c:name>
    <c:fmtId val="42"/>
  </c:pivotSource>
  <c:chart>
    <c:autoTitleDeleted val="0"/>
    <c:pivotFmts>
      <c:pivotFmt>
        <c:idx val="0"/>
        <c:spPr>
          <a:solidFill>
            <a:srgbClr val="025043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025043"/>
          </a:solidFill>
          <a:ln>
            <a:noFill/>
          </a:ln>
          <a:effectLst/>
        </c:spPr>
      </c:pivotFmt>
      <c:pivotFmt>
        <c:idx val="3"/>
        <c:spPr>
          <a:solidFill>
            <a:srgbClr val="025043"/>
          </a:solidFill>
          <a:ln>
            <a:noFill/>
          </a:ln>
          <a:effectLst/>
        </c:spPr>
      </c:pivotFmt>
      <c:pivotFmt>
        <c:idx val="4"/>
        <c:spPr>
          <a:solidFill>
            <a:srgbClr val="025043"/>
          </a:solidFill>
          <a:ln>
            <a:noFill/>
          </a:ln>
          <a:effectLst/>
        </c:spPr>
      </c:pivotFmt>
      <c:pivotFmt>
        <c:idx val="5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5.5555555555555552E-2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9.7222222222222224E-2"/>
              <c:y val="-1.388888888888888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105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1.1013779527559048E-2"/>
                  <c:h val="8.789370078740158E-2"/>
                </c:manualLayout>
              </c15:layout>
            </c:ext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1.6666666666666656E-2"/>
              <c:y val="-5.324055847185768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11656933508311458"/>
                  <c:h val="0.12956036745406824"/>
                </c:manualLayout>
              </c15:layout>
            </c:ext>
          </c:extLst>
        </c:dLbl>
      </c:pivotFmt>
      <c:pivotFmt>
        <c:idx val="14"/>
        <c:spPr>
          <a:solidFill>
            <a:srgbClr val="02504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1.6666666666666656E-2"/>
              <c:y val="-5.324055847185768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11656933508311458"/>
                  <c:h val="0.12956036745406824"/>
                </c:manualLayout>
              </c15:layout>
            </c:ext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1.1013779527559048E-2"/>
                  <c:h val="8.789370078740158E-2"/>
                </c:manualLayout>
              </c15:layout>
            </c:ext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rgbClr val="02504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1.6666666666666656E-2"/>
              <c:y val="-5.324055847185768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11656933508311458"/>
                  <c:h val="0.12956036745406824"/>
                </c:manualLayout>
              </c15:layout>
            </c:ext>
          </c:extLst>
        </c:dLbl>
      </c:pivotFmt>
      <c:pivotFmt>
        <c:idx val="30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1.1013779527559048E-2"/>
                  <c:h val="8.789370078740158E-2"/>
                </c:manualLayout>
              </c15:layout>
            </c:ext>
          </c:extLst>
        </c:dLbl>
      </c:pivotFmt>
      <c:pivotFmt>
        <c:idx val="35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7883202099737533"/>
          <c:y val="5.0925925925925923E-2"/>
          <c:w val="0.44062729658792649"/>
          <c:h val="0.5307199620880723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'Pivots-workings'!$B$21</c:f>
              <c:strCache>
                <c:ptCount val="1"/>
                <c:pt idx="0">
                  <c:v>Average of MonthlyIncome</c:v>
                </c:pt>
              </c:strCache>
            </c:strRef>
          </c:tx>
          <c:spPr>
            <a:solidFill>
              <a:srgbClr val="02504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'Pivots-workings'!$A$22:$A$30</c:f>
              <c:strCache>
                <c:ptCount val="9"/>
                <c:pt idx="0">
                  <c:v>Healthcare Representative</c:v>
                </c:pt>
                <c:pt idx="1">
                  <c:v>Human Resources</c:v>
                </c:pt>
                <c:pt idx="2">
                  <c:v>Laboratory Technician</c:v>
                </c:pt>
                <c:pt idx="3">
                  <c:v>Manager</c:v>
                </c:pt>
                <c:pt idx="4">
                  <c:v>Manufacturing Director</c:v>
                </c:pt>
                <c:pt idx="5">
                  <c:v>Research Director</c:v>
                </c:pt>
                <c:pt idx="6">
                  <c:v>Research Scientist</c:v>
                </c:pt>
                <c:pt idx="7">
                  <c:v>Sales Executive</c:v>
                </c:pt>
                <c:pt idx="8">
                  <c:v>Sales Representative</c:v>
                </c:pt>
              </c:strCache>
            </c:strRef>
          </c:cat>
          <c:val>
            <c:numRef>
              <c:f>'Pivots-workings'!$B$22:$B$30</c:f>
              <c:numCache>
                <c:formatCode>[&gt;=1000000]\$0.0,,"M";[&gt;=1000]\$0.0,"K";\$0.0</c:formatCode>
                <c:ptCount val="9"/>
                <c:pt idx="0">
                  <c:v>8548.2222222222226</c:v>
                </c:pt>
                <c:pt idx="1">
                  <c:v>3715.75</c:v>
                </c:pt>
                <c:pt idx="2">
                  <c:v>2919.2580645161293</c:v>
                </c:pt>
                <c:pt idx="3">
                  <c:v>16797.400000000001</c:v>
                </c:pt>
                <c:pt idx="4">
                  <c:v>7365.5</c:v>
                </c:pt>
                <c:pt idx="5">
                  <c:v>19395.5</c:v>
                </c:pt>
                <c:pt idx="6">
                  <c:v>2780.4680851063831</c:v>
                </c:pt>
                <c:pt idx="7">
                  <c:v>7489</c:v>
                </c:pt>
                <c:pt idx="8">
                  <c:v>2364.7272727272725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83-4F57-B700-F90AF7FF4A1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85366640"/>
        <c:axId val="285364720"/>
      </c:barChart>
      <c:lineChart>
        <c:grouping val="standard"/>
        <c:varyColors val="0"/>
        <c:ser>
          <c:idx val="1"/>
          <c:order val="1"/>
          <c:tx>
            <c:strRef>
              <c:f>'Pivots-workings'!$C$21</c:f>
              <c:strCache>
                <c:ptCount val="1"/>
                <c:pt idx="0">
                  <c:v>Count of JobRole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283-4F57-B700-F90AF7FF4A11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283-4F57-B700-F90AF7FF4A11}"/>
                </c:ext>
              </c:extLst>
            </c:dLbl>
            <c:dLbl>
              <c:idx val="2"/>
              <c:layout>
                <c:manualLayout>
                  <c:x val="1.6666666666666656E-2"/>
                  <c:y val="-5.324055847185768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656933508311458"/>
                      <c:h val="0.129560367454068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D283-4F57-B700-F90AF7FF4A11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283-4F57-B700-F90AF7FF4A11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283-4F57-B700-F90AF7FF4A11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283-4F57-B700-F90AF7FF4A1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283-4F57-B700-F90AF7FF4A11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>
                  <c15:layout>
                    <c:manualLayout>
                      <c:w val="1.1013779527559048E-2"/>
                      <c:h val="8.78937007874015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D283-4F57-B700-F90AF7FF4A11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283-4F57-B700-F90AF7FF4A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'Pivots-workings'!$A$22:$A$30</c:f>
              <c:strCache>
                <c:ptCount val="9"/>
                <c:pt idx="0">
                  <c:v>Healthcare Representative</c:v>
                </c:pt>
                <c:pt idx="1">
                  <c:v>Human Resources</c:v>
                </c:pt>
                <c:pt idx="2">
                  <c:v>Laboratory Technician</c:v>
                </c:pt>
                <c:pt idx="3">
                  <c:v>Manager</c:v>
                </c:pt>
                <c:pt idx="4">
                  <c:v>Manufacturing Director</c:v>
                </c:pt>
                <c:pt idx="5">
                  <c:v>Research Director</c:v>
                </c:pt>
                <c:pt idx="6">
                  <c:v>Research Scientist</c:v>
                </c:pt>
                <c:pt idx="7">
                  <c:v>Sales Executive</c:v>
                </c:pt>
                <c:pt idx="8">
                  <c:v>Sales Representative</c:v>
                </c:pt>
              </c:strCache>
            </c:strRef>
          </c:cat>
          <c:val>
            <c:numRef>
              <c:f>'Pivots-workings'!$C$22:$C$30</c:f>
              <c:numCache>
                <c:formatCode>0%</c:formatCode>
                <c:ptCount val="9"/>
                <c:pt idx="0">
                  <c:v>3.7974683544303799E-2</c:v>
                </c:pt>
                <c:pt idx="1">
                  <c:v>5.0632911392405063E-2</c:v>
                </c:pt>
                <c:pt idx="2">
                  <c:v>0.26160337552742619</c:v>
                </c:pt>
                <c:pt idx="3">
                  <c:v>2.1097046413502109E-2</c:v>
                </c:pt>
                <c:pt idx="4">
                  <c:v>4.2194092827004218E-2</c:v>
                </c:pt>
                <c:pt idx="5">
                  <c:v>8.4388185654008432E-3</c:v>
                </c:pt>
                <c:pt idx="6">
                  <c:v>0.19831223628691982</c:v>
                </c:pt>
                <c:pt idx="7">
                  <c:v>0.24050632911392406</c:v>
                </c:pt>
                <c:pt idx="8">
                  <c:v>0.13924050632911392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D283-4F57-B700-F90AF7FF4A1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85352720"/>
        <c:axId val="285346480"/>
      </c:lineChart>
      <c:catAx>
        <c:axId val="28535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5346480"/>
        <c:crosses val="autoZero"/>
        <c:auto val="1"/>
        <c:lblAlgn val="ctr"/>
        <c:lblOffset val="100"/>
        <c:noMultiLvlLbl val="0"/>
      </c:catAx>
      <c:valAx>
        <c:axId val="285346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5352720"/>
        <c:crosses val="autoZero"/>
        <c:crossBetween val="between"/>
      </c:valAx>
      <c:valAx>
        <c:axId val="285364720"/>
        <c:scaling>
          <c:orientation val="minMax"/>
        </c:scaling>
        <c:delete val="0"/>
        <c:axPos val="r"/>
        <c:numFmt formatCode="[&gt;=1000000]\$0.0,,&quot;M&quot;;[&gt;=1000]\$0.0,&quot;K&quot;;\$0.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5366640"/>
        <c:crosses val="max"/>
        <c:crossBetween val="between"/>
      </c:valAx>
      <c:catAx>
        <c:axId val="2853666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53647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3754024496937887"/>
          <c:y val="0.37152668416447943"/>
          <c:w val="0.2457930883639545"/>
          <c:h val="0.363428113152522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HR Workforce Attrition</a:t>
            </a:r>
            <a:r>
              <a:rPr lang="en-GB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en-GB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Dashboard</a:t>
            </a:r>
            <a:br>
              <a:rPr lang="en-GB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</a:b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184" y="3429000"/>
            <a:ext cx="6193632" cy="3200400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GB" sz="2400" b="1" dirty="0">
                <a:solidFill>
                  <a:srgbClr val="025043"/>
                </a:solidFill>
              </a:rPr>
              <a:t>Overview of employee attrition insights, salary structures and workforce trends.</a:t>
            </a:r>
          </a:p>
          <a:p>
            <a:pPr>
              <a:lnSpc>
                <a:spcPct val="90000"/>
              </a:lnSpc>
            </a:pPr>
            <a:r>
              <a:rPr lang="en-GB" sz="2400" b="1" dirty="0">
                <a:solidFill>
                  <a:srgbClr val="025043"/>
                </a:solidFill>
              </a:rPr>
              <a:t>By Pod Orion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07FEE-2DC4-B460-4DF8-6AD051BD7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8876"/>
          </a:xfrm>
        </p:spPr>
        <p:txBody>
          <a:bodyPr>
            <a:normAutofit fontScale="90000"/>
          </a:bodyPr>
          <a:lstStyle/>
          <a:p>
            <a:endParaRPr lang="en-GB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86E5377-29B6-633C-86FB-11D269F7F3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-2002970"/>
            <a:ext cx="10929258" cy="954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27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Attrition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4886" y="1097280"/>
            <a:ext cx="69886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 dirty="0"/>
          </a:p>
          <a:p>
            <a:r>
              <a:rPr b="1" dirty="0"/>
              <a:t>16% of employees left the </a:t>
            </a:r>
            <a:r>
              <a:rPr lang="en-GB" b="1" dirty="0"/>
              <a:t>workforce</a:t>
            </a:r>
            <a:r>
              <a:rPr b="1" dirty="0"/>
              <a:t>. Retention remains high at 8</a:t>
            </a:r>
            <a:r>
              <a:rPr lang="en-GB" b="1" dirty="0"/>
              <a:t>4</a:t>
            </a:r>
            <a:r>
              <a:rPr b="1" dirty="0"/>
              <a:t>%.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503521F-2950-84E3-8F16-220777FEF2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4256029"/>
              </p:ext>
            </p:extLst>
          </p:nvPr>
        </p:nvGraphicFramePr>
        <p:xfrm>
          <a:off x="1077686" y="2329544"/>
          <a:ext cx="6346371" cy="36031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Attrition by Age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6914" y="1616808"/>
            <a:ext cx="6542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Key </a:t>
            </a:r>
            <a:r>
              <a:rPr b="1" dirty="0"/>
              <a:t>Insight:</a:t>
            </a:r>
          </a:p>
          <a:p>
            <a:r>
              <a:rPr b="1" dirty="0"/>
              <a:t>Employees aged 21–40 account for over 70% of attrition.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D2E3A6B-3460-7771-613B-149CB48CB7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5845664"/>
              </p:ext>
            </p:extLst>
          </p:nvPr>
        </p:nvGraphicFramePr>
        <p:xfrm>
          <a:off x="1951944" y="2579915"/>
          <a:ext cx="5711599" cy="3233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Attrition by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2885" y="1565366"/>
            <a:ext cx="73478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 dirty="0"/>
          </a:p>
          <a:p>
            <a:r>
              <a:rPr b="1" dirty="0"/>
              <a:t>Research &amp; Development contributes the largest share of employee exits.</a:t>
            </a:r>
            <a:endParaRPr lang="en-GB" b="1" dirty="0"/>
          </a:p>
          <a:p>
            <a:endParaRPr b="1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8516815-1022-7FC3-5A06-7A3EE924D5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9122500"/>
              </p:ext>
            </p:extLst>
          </p:nvPr>
        </p:nvGraphicFramePr>
        <p:xfrm>
          <a:off x="1175657" y="2786743"/>
          <a:ext cx="6585857" cy="31459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Attrition by Job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804851"/>
            <a:ext cx="72934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Key Insight:</a:t>
            </a:r>
          </a:p>
          <a:p>
            <a:r>
              <a:rPr b="1" dirty="0"/>
              <a:t>Laboratory Technicians</a:t>
            </a:r>
            <a:r>
              <a:rPr lang="en-GB" b="1" dirty="0"/>
              <a:t>, Research Scientist</a:t>
            </a:r>
            <a:r>
              <a:rPr b="1" dirty="0"/>
              <a:t> and Sales Executives show the highest attrition </a:t>
            </a:r>
            <a:r>
              <a:rPr lang="en-GB" b="1" dirty="0"/>
              <a:t>rates due to lower incomes, etc</a:t>
            </a:r>
            <a:r>
              <a:rPr b="1" dirty="0"/>
              <a:t>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21C825A-73BD-0D10-650F-7185EC0392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6206488"/>
              </p:ext>
            </p:extLst>
          </p:nvPr>
        </p:nvGraphicFramePr>
        <p:xfrm>
          <a:off x="348343" y="2847925"/>
          <a:ext cx="8142513" cy="4010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Overtime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4259" y="1573259"/>
            <a:ext cx="75220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Key Insight:</a:t>
            </a:r>
          </a:p>
          <a:p>
            <a:r>
              <a:rPr b="1" dirty="0"/>
              <a:t>Employees working overtime are more likely to leave, indicating workload pressure.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5BFB9D-9D4E-2048-CCDF-F0ED1991FD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655" t="25110" r="13328" b="9174"/>
          <a:stretch>
            <a:fillRect/>
          </a:stretch>
        </p:blipFill>
        <p:spPr>
          <a:xfrm>
            <a:off x="1997297" y="2956980"/>
            <a:ext cx="4751994" cy="31547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FA278-86C9-771B-3174-2DA16E9E9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13A45-9251-3F81-BC10-8DE217A91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GB" sz="2600" dirty="0"/>
              <a:t>Reduce excessive overtime, improve working environment and work-life balance to minimise employee burnout and turnover. </a:t>
            </a:r>
          </a:p>
          <a:p>
            <a:pPr lvl="0"/>
            <a:endParaRPr lang="en-GB" sz="2600" dirty="0"/>
          </a:p>
          <a:p>
            <a:pPr lvl="0"/>
            <a:r>
              <a:rPr lang="en-GB" sz="2600" dirty="0"/>
              <a:t>Focus retention efforts on employees aged 21–40 and high-attrition departments such as Research &amp; Development and Sales through targeted engagements . </a:t>
            </a:r>
          </a:p>
          <a:p>
            <a:pPr marL="0" lvl="0" indent="0">
              <a:buNone/>
            </a:pPr>
            <a:endParaRPr lang="en-GB" sz="2600" dirty="0"/>
          </a:p>
          <a:p>
            <a:pPr lvl="0"/>
            <a:r>
              <a:rPr lang="en-GB" sz="2600" dirty="0"/>
              <a:t>Invest in career development/trainings,  and competitive monthly income to improve employee satisfaction and long-term retention.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4067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1296</TotalTime>
  <Words>180</Words>
  <Application>Microsoft Office PowerPoint</Application>
  <PresentationFormat>On-screen Show (4:3)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HR Workforce Attrition Dashboard </vt:lpstr>
      <vt:lpstr>PowerPoint Presentation</vt:lpstr>
      <vt:lpstr>Overall Attrition</vt:lpstr>
      <vt:lpstr>Attrition by Age Group</vt:lpstr>
      <vt:lpstr>Attrition by Department</vt:lpstr>
      <vt:lpstr>Attrition by Job Role</vt:lpstr>
      <vt:lpstr>Overtime Impact</vt:lpstr>
      <vt:lpstr>Key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Nnennaya Ihekwoaba</dc:creator>
  <cp:keywords/>
  <dc:description>generated using python-pptx</dc:description>
  <cp:lastModifiedBy>Nnennaya Ihekwoaba</cp:lastModifiedBy>
  <cp:revision>2</cp:revision>
  <dcterms:created xsi:type="dcterms:W3CDTF">2013-01-27T09:14:16Z</dcterms:created>
  <dcterms:modified xsi:type="dcterms:W3CDTF">2026-06-28T06:30:32Z</dcterms:modified>
  <cp:category/>
</cp:coreProperties>
</file>